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project in one sentence: a deployed fuel-burn prediction pipeline trained on synthetic data generated from a density fitted to real flights.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cost, confidentiality constraint, and how that constraint became the design problem. Read the research question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Yanto and Liem 2018. Same predictors. Their pooled-model drop to 0.85–0.90 is the justification for our per-group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cleaning findings. Duplicates in both source files, the sensor artifact column, and the VIF check on the final predictors.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predictors. 1,404 flights, 79.8/20.2 narrow vs wide. The imbalance is the real fleet mix, which is why the groups are modelled separately. Point at the near-total separation in the two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steps: joint KDE per group on log distance, log weight, tailwind; wider bandwidth for the small group; range check with rejection sampling. Then switch to Jupyter and run the generation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Log-linear regression in Spark MLlib, one model per group. Elasticities: distance 0.72 vs 0.68, weight 0.92 vs 1.15. Temporal split so routes don't leak between train and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A separate custom consumer reads the same Kafka stream for real-time notable-flight alerts. Then switch to the terminal and run docker ps to show all 8 containers.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 shape, keyed partitioning, two consumer instances for rebalancing, at-least-once via 5s auto-commit. Then two terminals: run flight_notifier.py in both, stop one, show the other picking up all partitions.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real historical flight scored by the trained model, predictions compared to actual fuel burn. Points cluster tightly along the perfect-prediction line. RMSE 519 / MAE 350 narrow-body; RMSE 1,014 / MAE 791 wide-body.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3,587 flights scored in one batch run. Distance ranges per group. Freighter variant headwind-skewed 849 vs 257. Then switch to the browser: localhost:8000/api/dashboard/, click through Overview, Predictions, Distributions, Notable Flights.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limitations, stated plainly. Close with the statement: a complete working pipeline built without needing the confidential data more than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web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7989" y="3026420"/>
            <a:ext cx="8771837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195" kern="0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BIG DATA ESSENTIALS — GROUP FINAL EXAM PROJECT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785938" y="3690751"/>
            <a:ext cx="14716125" cy="1798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Big Data Pipeline for Predicting Aircraft Fuel Consumption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4635001" y="5793879"/>
            <a:ext cx="9017812" cy="533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857"/>
              </a:lnSpc>
              <a:buNone/>
            </a:pPr>
            <a:r>
              <a:rPr lang="en-US" sz="3000" dirty="0">
                <a:solidFill>
                  <a:srgbClr val="8FD3D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Using Kernel Density Estimation and Spark MLlib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8172710"/>
            <a:ext cx="1143000" cy="57113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8496412"/>
            <a:ext cx="39738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Rubagumya Brave (101392)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288979" y="8496412"/>
            <a:ext cx="41895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Rwagasana Felicien (101364)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31040" y="8496412"/>
            <a:ext cx="396364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Uwizeye Christelle (101465)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43000" y="9072563"/>
            <a:ext cx="17602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9B7C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MSc in Big Data Analytics, Adventist University of Central Africa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308696"/>
            <a:ext cx="83308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2801503"/>
            <a:ext cx="7800696" cy="1295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Motivation &amp; Research Question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4649019"/>
            <a:ext cx="133201" cy="133201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5" name="Text 3"/>
          <p:cNvSpPr/>
          <p:nvPr/>
        </p:nvSpPr>
        <p:spPr>
          <a:xfrm>
            <a:off x="1295177" y="4477680"/>
            <a:ext cx="7447739" cy="891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741"/>
              </a:lnSpc>
              <a:buNone/>
            </a:pPr>
            <a:r>
              <a:rPr lang="en-US" sz="24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Fuel is one of the largest, most variable costs an airline faces.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5787926"/>
            <a:ext cx="133201" cy="133201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7" name="Text 5"/>
          <p:cNvSpPr/>
          <p:nvPr/>
        </p:nvSpPr>
        <p:spPr>
          <a:xfrm>
            <a:off x="1295177" y="5616587"/>
            <a:ext cx="7447739" cy="1317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741"/>
              </a:lnSpc>
              <a:buNone/>
            </a:pPr>
            <a:r>
              <a:rPr lang="en-US" sz="24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real flight data behind this project is confidential — it can never be shared directly between group members or submitted as-is.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" y="7353412"/>
            <a:ext cx="133201" cy="133201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9" name="Text 7"/>
          <p:cNvSpPr/>
          <p:nvPr/>
        </p:nvSpPr>
        <p:spPr>
          <a:xfrm>
            <a:off x="1295177" y="7182073"/>
            <a:ext cx="7447739" cy="891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741"/>
              </a:lnSpc>
              <a:buNone/>
            </a:pPr>
            <a:r>
              <a:rPr lang="en-US" sz="24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Instead of a workaround dataset, we treated this as a design problem.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383241" y="1866863"/>
            <a:ext cx="7952259" cy="6610201"/>
          </a:xfrm>
          <a:prstGeom prst="roundRect">
            <a:avLst>
              <a:gd name="adj" fmla="val 2882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68967" y="3143808"/>
            <a:ext cx="7238888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5082"/>
              </a:lnSpc>
              <a:buNone/>
            </a:pPr>
            <a:r>
              <a:rPr lang="en-US" sz="10500" b="1" dirty="0">
                <a:solidFill>
                  <a:srgbClr val="E3A7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“</a:t>
            </a:r>
            <a:endParaRPr lang="en-US" sz="10500" dirty="0"/>
          </a:p>
        </p:txBody>
      </p:sp>
      <p:sp>
        <p:nvSpPr>
          <p:cNvPr id="12" name="Text 10"/>
          <p:cNvSpPr/>
          <p:nvPr/>
        </p:nvSpPr>
        <p:spPr>
          <a:xfrm>
            <a:off x="10068967" y="4172210"/>
            <a:ext cx="6778232" cy="312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 synthetic flight data, generated from a density fitted to real flights, support an accurate, fully deployed prediction system — without the system ever needing the real data again?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107531"/>
            <a:ext cx="7543800" cy="171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13200" b="1" spc="-396" kern="0" dirty="0">
                <a:solidFill>
                  <a:srgbClr val="E3A7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R² &gt; 0.99</a:t>
            </a:r>
            <a:endParaRPr lang="en-US" sz="13200" dirty="0"/>
          </a:p>
        </p:txBody>
      </p:sp>
      <p:sp>
        <p:nvSpPr>
          <p:cNvPr id="3" name="Text 1"/>
          <p:cNvSpPr/>
          <p:nvPr/>
        </p:nvSpPr>
        <p:spPr>
          <a:xfrm>
            <a:off x="952500" y="4955232"/>
            <a:ext cx="7543800" cy="4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5"/>
              </a:lnSpc>
              <a:buNone/>
            </a:pPr>
            <a:r>
              <a:rPr lang="en-US" sz="22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across 40 aircraft types, fitted per type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52500" y="5721883"/>
            <a:ext cx="6858000" cy="11906"/>
          </a:xfrm>
          <a:prstGeom prst="rect">
            <a:avLst/>
          </a:prstGeom>
          <a:solidFill>
            <a:srgbClr val="D6DCE5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6057491"/>
            <a:ext cx="7543800" cy="723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54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0.85–0.90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52500" y="6876417"/>
            <a:ext cx="7543800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6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when different aircraft types were pooled together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763000" y="2555751"/>
            <a:ext cx="9429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763000" y="3048558"/>
            <a:ext cx="942975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Related Work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8763000" y="4257973"/>
            <a:ext cx="133201" cy="133201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10" name="Text 8"/>
          <p:cNvSpPr/>
          <p:nvPr/>
        </p:nvSpPr>
        <p:spPr>
          <a:xfrm>
            <a:off x="9105677" y="4096122"/>
            <a:ext cx="7586774" cy="4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93"/>
              </a:lnSpc>
              <a:buNone/>
            </a:pPr>
            <a:r>
              <a:rPr lang="en-US" sz="2325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Yanto &amp; Liem (2018), </a:t>
            </a:r>
            <a:pPr algn="l" indent="0" marL="0">
              <a:lnSpc>
                <a:spcPct val="128593"/>
              </a:lnSpc>
              <a:buNone/>
            </a:pPr>
            <a:r>
              <a:rPr lang="en-US" sz="2325" i="1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Transportation Research Part D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8763000" y="4937745"/>
            <a:ext cx="133201" cy="133201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12" name="Text 10"/>
          <p:cNvSpPr/>
          <p:nvPr/>
        </p:nvSpPr>
        <p:spPr>
          <a:xfrm>
            <a:off x="9105677" y="4775895"/>
            <a:ext cx="8476718" cy="864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93"/>
              </a:lnSpc>
              <a:buNone/>
            </a:pPr>
            <a:r>
              <a:rPr lang="en-US" sz="2325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Same core predictors we use: distance + weight (payload), fitted per aircraft type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8763000" y="6030702"/>
            <a:ext cx="133201" cy="133201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14" name="Text 12"/>
          <p:cNvSpPr/>
          <p:nvPr/>
        </p:nvSpPr>
        <p:spPr>
          <a:xfrm>
            <a:off x="9105677" y="5868851"/>
            <a:ext cx="6484795" cy="4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93"/>
              </a:lnSpc>
              <a:buNone/>
            </a:pPr>
            <a:r>
              <a:rPr lang="en-US" sz="2325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Their result: R² &gt; 0.99 across 40 aircraft types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8763000" y="6710474"/>
            <a:ext cx="133201" cy="133201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16" name="Text 14"/>
          <p:cNvSpPr/>
          <p:nvPr/>
        </p:nvSpPr>
        <p:spPr>
          <a:xfrm>
            <a:off x="9105677" y="6548624"/>
            <a:ext cx="8476718" cy="1277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93"/>
              </a:lnSpc>
              <a:buNone/>
            </a:pPr>
            <a:r>
              <a:rPr lang="en-US" sz="2325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Critically: pooling different aircraft types together dropped R² to 0.85–0.90 — direct support for fitting separate models per group, which we also do</a:t>
            </a:r>
            <a:endParaRPr lang="en-US" sz="23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363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7170"/>
            <a:ext cx="1802130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&amp; Cleaning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797783"/>
            <a:ext cx="3867113" cy="5548126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5406" y="3304915"/>
            <a:ext cx="3389430" cy="1028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7800" b="1" spc="-234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43.7%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1345406" y="4524003"/>
            <a:ext cx="533363" cy="57113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7" name="Text 5"/>
          <p:cNvSpPr/>
          <p:nvPr/>
        </p:nvSpPr>
        <p:spPr>
          <a:xfrm>
            <a:off x="1345406" y="4809567"/>
            <a:ext cx="3173739" cy="11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exact duplicate rows found in the original single-source file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124338" y="2797783"/>
            <a:ext cx="3867299" cy="5548126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7245" y="3304915"/>
            <a:ext cx="3389635" cy="1028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7800" b="1" spc="-234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29.8%</a:t>
            </a:r>
            <a:endParaRPr lang="en-US" sz="7800" dirty="0"/>
          </a:p>
        </p:txBody>
      </p:sp>
      <p:sp>
        <p:nvSpPr>
          <p:cNvPr id="10" name="Shape 8"/>
          <p:cNvSpPr/>
          <p:nvPr/>
        </p:nvSpPr>
        <p:spPr>
          <a:xfrm>
            <a:off x="5517245" y="4524003"/>
            <a:ext cx="533363" cy="57113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11" name="Text 9"/>
          <p:cNvSpPr/>
          <p:nvPr/>
        </p:nvSpPr>
        <p:spPr>
          <a:xfrm>
            <a:off x="5517245" y="4809567"/>
            <a:ext cx="3173931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duplicates in the three-source merged file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6363" y="2797783"/>
            <a:ext cx="3867113" cy="5548126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89269" y="3304915"/>
            <a:ext cx="3389430" cy="1028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7800" b="1" spc="-234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37%</a:t>
            </a:r>
            <a:endParaRPr lang="en-US" sz="7800" dirty="0"/>
          </a:p>
        </p:txBody>
      </p:sp>
      <p:sp>
        <p:nvSpPr>
          <p:cNvPr id="14" name="Shape 12"/>
          <p:cNvSpPr/>
          <p:nvPr/>
        </p:nvSpPr>
        <p:spPr>
          <a:xfrm>
            <a:off x="9689269" y="4524003"/>
            <a:ext cx="533363" cy="57113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15" name="Text 13"/>
          <p:cNvSpPr/>
          <p:nvPr/>
        </p:nvSpPr>
        <p:spPr>
          <a:xfrm>
            <a:off x="9689269" y="4809567"/>
            <a:ext cx="3173739" cy="190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rows affected by a sensor artifact (impossible repeated weather value) — column dropped entirely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468201" y="2797783"/>
            <a:ext cx="3867299" cy="5548126"/>
          </a:xfrm>
          <a:prstGeom prst="roundRect">
            <a:avLst>
              <a:gd name="adj" fmla="val 4926"/>
            </a:avLst>
          </a:prstGeom>
          <a:solidFill>
            <a:srgbClr val="0B1F3A"/>
          </a:solidFill>
          <a:ln w="11906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61107" y="3304915"/>
            <a:ext cx="3173931" cy="2019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7800" b="1" spc="-234" kern="0" dirty="0">
                <a:solidFill>
                  <a:srgbClr val="E3A7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VIF &lt; 2</a:t>
            </a:r>
            <a:endParaRPr lang="en-US" sz="7800" dirty="0"/>
          </a:p>
        </p:txBody>
      </p:sp>
      <p:sp>
        <p:nvSpPr>
          <p:cNvPr id="18" name="Shape 16"/>
          <p:cNvSpPr/>
          <p:nvPr/>
        </p:nvSpPr>
        <p:spPr>
          <a:xfrm>
            <a:off x="13861107" y="5514640"/>
            <a:ext cx="533363" cy="57113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19" name="Text 17"/>
          <p:cNvSpPr/>
          <p:nvPr/>
        </p:nvSpPr>
        <p:spPr>
          <a:xfrm>
            <a:off x="13861107" y="5800204"/>
            <a:ext cx="3173931" cy="11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DCE4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problematic multicollinearity between final predictors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861107" y="7148773"/>
            <a:ext cx="338963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D3D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1.69 · 1.86 · 1.13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363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7170"/>
            <a:ext cx="1802130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Final Feature Set &amp; Data Split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569146"/>
            <a:ext cx="1420378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1A8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3956" y="2676302"/>
            <a:ext cx="10536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distance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2506080" y="2569146"/>
            <a:ext cx="2024435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1A8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27536" y="2676302"/>
            <a:ext cx="165772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takeoff weight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3185666"/>
            <a:ext cx="2148148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1A8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3956" y="3292822"/>
            <a:ext cx="17814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takeoff tailwind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233849" y="3233291"/>
            <a:ext cx="4000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3690937" y="3178597"/>
            <a:ext cx="2006761" cy="490389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3919537" y="3292897"/>
            <a:ext cx="1625761" cy="299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total fuel burn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" y="4049985"/>
            <a:ext cx="6286500" cy="9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30"/>
              </a:lnSpc>
              <a:buNone/>
            </a:pPr>
            <a:r>
              <a:rPr lang="en-US" sz="7200" b="1" spc="-216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1,404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952500" y="5059598"/>
            <a:ext cx="628650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real historical flights total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" y="5738254"/>
            <a:ext cx="4560466" cy="32370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5512966" y="5738254"/>
            <a:ext cx="1154348" cy="323701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6628619"/>
            <a:ext cx="149758" cy="152363"/>
          </a:xfrm>
          <a:prstGeom prst="roundRect">
            <a:avLst>
              <a:gd name="adj" fmla="val 19081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16484" y="6442956"/>
            <a:ext cx="253632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Narrow-body (pooled)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2500" y="7042919"/>
            <a:ext cx="2996524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1,121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52500" y="7652370"/>
            <a:ext cx="2805836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79.8% · 831 train + 290 test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943201" y="6497650"/>
            <a:ext cx="152363" cy="152363"/>
          </a:xfrm>
          <a:prstGeom prst="roundRect">
            <a:avLst>
              <a:gd name="adj" fmla="val 18755"/>
            </a:avLst>
          </a:prstGeom>
          <a:solidFill>
            <a:srgbClr val="1A8C8F"/>
          </a:solidFill>
          <a:ln/>
        </p:spPr>
      </p:sp>
      <p:sp>
        <p:nvSpPr>
          <p:cNvPr id="22" name="Text 20"/>
          <p:cNvSpPr/>
          <p:nvPr/>
        </p:nvSpPr>
        <p:spPr>
          <a:xfrm>
            <a:off x="4209790" y="6442956"/>
            <a:ext cx="13628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Wide-body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943201" y="6780981"/>
            <a:ext cx="2996729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283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3943201" y="7390433"/>
            <a:ext cx="280602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20.2% · 189 train + 94 test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" y="8628683"/>
            <a:ext cx="5886450" cy="1117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025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Imbalance reflects the airline's real fleet mix, not a sampling choice — this is why each group is modelled separately.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7334250" y="2569146"/>
            <a:ext cx="4867238" cy="5715000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9357" y="2714253"/>
            <a:ext cx="4577023" cy="5424785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4818" b="-44818"/>
          <a:stretch/>
        </p:blipFill>
        <p:spPr>
          <a:xfrm>
            <a:off x="7479357" y="2714253"/>
            <a:ext cx="4577023" cy="542478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334250" y="8417347"/>
            <a:ext cx="5013255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Gross weight at liftoff (kg), by fleet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2468076" y="2569146"/>
            <a:ext cx="4867424" cy="5715000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2613184" y="2714253"/>
            <a:ext cx="4577209" cy="5424785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4814" b="-44814"/>
          <a:stretch/>
        </p:blipFill>
        <p:spPr>
          <a:xfrm>
            <a:off x="12613184" y="2714253"/>
            <a:ext cx="4577209" cy="542478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2468076" y="8417347"/>
            <a:ext cx="5013447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Great-circle distance (NM), by fleet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363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METHODOLOGY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7170"/>
            <a:ext cx="1802130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Synthetic Data Generator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797783"/>
            <a:ext cx="4775336" cy="4465588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5406" y="3228640"/>
            <a:ext cx="799951" cy="799951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307306" y="3228640"/>
            <a:ext cx="876151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45406" y="4295180"/>
            <a:ext cx="4109210" cy="815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25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Fit a joint KDE per aircraft group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45406" y="5339023"/>
            <a:ext cx="4109210" cy="11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 log(distance), log(weight), and tailwind together — preserves the real correlation between them.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18188" y="2797783"/>
            <a:ext cx="647700" cy="4503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6756239" y="2797783"/>
            <a:ext cx="4775336" cy="4465588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49145" y="3228640"/>
            <a:ext cx="799951" cy="799951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7111045" y="3228640"/>
            <a:ext cx="876151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49145" y="4295180"/>
            <a:ext cx="4109210" cy="815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25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Widen bandwidth for the small group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149145" y="5339023"/>
            <a:ext cx="4109210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smaller group (47 real flights) gets a deliberately wider bandwidth ( </a:t>
            </a:r>
            <a:pPr algn="l" indent="0" marL="0">
              <a:lnSpc>
                <a:spcPct val="125440"/>
              </a:lnSpc>
              <a:buNone/>
            </a:pPr>
            <a:r>
              <a:rPr lang="en-US" sz="21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1.8× </a:t>
            </a:r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 to avoid overfitting to individual points.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721926" y="2797783"/>
            <a:ext cx="647700" cy="4503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12559978" y="2797783"/>
            <a:ext cx="4775522" cy="4465588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52884" y="3228640"/>
            <a:ext cx="799951" cy="799951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914784" y="3228640"/>
            <a:ext cx="876151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952884" y="4295180"/>
            <a:ext cx="4109401" cy="815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25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Check every draw against the real range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952884" y="5339023"/>
            <a:ext cx="4109401" cy="11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Draws outside that group's real range are rejected and resampled.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037713" y="9013403"/>
            <a:ext cx="7297787" cy="664146"/>
          </a:xfrm>
          <a:prstGeom prst="roundRect">
            <a:avLst>
              <a:gd name="adj" fmla="val 50000"/>
            </a:avLst>
          </a:prstGeom>
          <a:solidFill>
            <a:srgbClr val="FFF8E6"/>
          </a:solidFill>
          <a:ln w="11906">
            <a:solidFill>
              <a:srgbClr val="E3A7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63845" y="9139535"/>
            <a:ext cx="1703896" cy="411882"/>
          </a:xfrm>
          <a:prstGeom prst="roundRect">
            <a:avLst>
              <a:gd name="adj" fmla="val 50000"/>
            </a:avLst>
          </a:prstGeom>
          <a:solidFill>
            <a:srgbClr val="E3A72F"/>
          </a:solidFill>
          <a:ln/>
        </p:spPr>
      </p:sp>
      <p:sp>
        <p:nvSpPr>
          <p:cNvPr id="23" name="Text 21"/>
          <p:cNvSpPr/>
          <p:nvPr/>
        </p:nvSpPr>
        <p:spPr>
          <a:xfrm>
            <a:off x="10316245" y="9196685"/>
            <a:ext cx="1475296" cy="335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B1F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20104" y="9196648"/>
            <a:ext cx="558254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Jupyter — run the KDE generation loop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363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METHODOLOGY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7170"/>
            <a:ext cx="1802130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Spark MLlib Model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569146"/>
            <a:ext cx="8001000" cy="4681761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406" y="2581052"/>
            <a:ext cx="7977188" cy="852413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345406" y="2828702"/>
            <a:ext cx="7454503" cy="39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Narrow-body (pooled)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345406" y="4819055"/>
            <a:ext cx="7215188" cy="1190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8" name="Text 6"/>
          <p:cNvSpPr/>
          <p:nvPr/>
        </p:nvSpPr>
        <p:spPr>
          <a:xfrm>
            <a:off x="1345406" y="3947666"/>
            <a:ext cx="3143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Distance elasticity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431357" y="3721447"/>
            <a:ext cx="1162459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35"/>
              </a:lnSpc>
              <a:buNone/>
            </a:pPr>
            <a:r>
              <a:rPr lang="en-US" sz="39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0.72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4431357" y="4309504"/>
            <a:ext cx="45421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10% longer → +7.1% fuel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45406" y="5821412"/>
            <a:ext cx="7215188" cy="1190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2" name="Text 10"/>
          <p:cNvSpPr/>
          <p:nvPr/>
        </p:nvSpPr>
        <p:spPr>
          <a:xfrm>
            <a:off x="1345406" y="5269074"/>
            <a:ext cx="3143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Weight elasticity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431357" y="5078574"/>
            <a:ext cx="4542160" cy="533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35"/>
              </a:lnSpc>
              <a:buNone/>
            </a:pPr>
            <a:r>
              <a:rPr lang="en-US" sz="39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0.92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345406" y="6128556"/>
            <a:ext cx="3143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 pooled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431357" y="6080931"/>
            <a:ext cx="4253113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60"/>
              </a:lnSpc>
              <a:buNone/>
            </a:pPr>
            <a:r>
              <a:rPr lang="en-US" sz="210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Same airframe, overlapping weight range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34500" y="2569146"/>
            <a:ext cx="8001000" cy="4681761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6406" y="2581052"/>
            <a:ext cx="7977188" cy="852413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18" name="Text 16"/>
          <p:cNvSpPr/>
          <p:nvPr/>
        </p:nvSpPr>
        <p:spPr>
          <a:xfrm>
            <a:off x="9727406" y="2828702"/>
            <a:ext cx="7454503" cy="39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Wide-body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727406" y="4819055"/>
            <a:ext cx="7215188" cy="1190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0" name="Text 18"/>
          <p:cNvSpPr/>
          <p:nvPr/>
        </p:nvSpPr>
        <p:spPr>
          <a:xfrm>
            <a:off x="9727406" y="3947666"/>
            <a:ext cx="3143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Distance elasticity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813357" y="3721447"/>
            <a:ext cx="1162459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35"/>
              </a:lnSpc>
              <a:buNone/>
            </a:pPr>
            <a:r>
              <a:rPr lang="en-US" sz="39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0.68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2813357" y="4309504"/>
            <a:ext cx="45421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10% longer → +6.7% fuel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27406" y="5821412"/>
            <a:ext cx="7215188" cy="1190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4" name="Text 22"/>
          <p:cNvSpPr/>
          <p:nvPr/>
        </p:nvSpPr>
        <p:spPr>
          <a:xfrm>
            <a:off x="9727406" y="5269074"/>
            <a:ext cx="3143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Weight elasticity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813357" y="5078574"/>
            <a:ext cx="4542160" cy="533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35"/>
              </a:lnSpc>
              <a:buNone/>
            </a:pPr>
            <a:r>
              <a:rPr lang="en-US" sz="39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1.15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9727406" y="6128556"/>
            <a:ext cx="3143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 separate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813357" y="6080931"/>
            <a:ext cx="4253113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60"/>
              </a:lnSpc>
              <a:buNone/>
            </a:pPr>
            <a:r>
              <a:rPr lang="en-US" sz="210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Zero weight overlap with narrow-body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52500" y="7917470"/>
            <a:ext cx="133201" cy="133201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29" name="Text 27"/>
          <p:cNvSpPr/>
          <p:nvPr/>
        </p:nvSpPr>
        <p:spPr>
          <a:xfrm>
            <a:off x="1295177" y="7784269"/>
            <a:ext cx="5949665" cy="411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Log-linear regression, trained with Spark MLlib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334500" y="7917470"/>
            <a:ext cx="133201" cy="133201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31" name="Text 29"/>
          <p:cNvSpPr/>
          <p:nvPr/>
        </p:nvSpPr>
        <p:spPr>
          <a:xfrm>
            <a:off x="9677177" y="7784269"/>
            <a:ext cx="7888073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40"/>
              </a:lnSpc>
              <a:buNone/>
            </a:pPr>
            <a:r>
              <a:rPr lang="en-US" sz="210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Temporal train/test split (earlier months → train, later months → test) — avoids the same route appearing in both halves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363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7170"/>
            <a:ext cx="1802130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System Architecture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236082"/>
            <a:ext cx="2000250" cy="1599902"/>
          </a:xfrm>
          <a:prstGeom prst="roundRect">
            <a:avLst>
              <a:gd name="adj" fmla="val 9526"/>
            </a:avLst>
          </a:prstGeom>
          <a:solidFill>
            <a:srgbClr val="1A8C8F"/>
          </a:solidFill>
          <a:ln/>
        </p:spPr>
      </p:sp>
      <p:sp>
        <p:nvSpPr>
          <p:cNvPr id="5" name="Text 3"/>
          <p:cNvSpPr/>
          <p:nvPr/>
        </p:nvSpPr>
        <p:spPr>
          <a:xfrm>
            <a:off x="1142851" y="3716052"/>
            <a:ext cx="161954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KDE Generator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14650" y="3815767"/>
            <a:ext cx="51431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390863" y="3236082"/>
            <a:ext cx="2000250" cy="1599902"/>
          </a:xfrm>
          <a:prstGeom prst="roundRect">
            <a:avLst>
              <a:gd name="adj" fmla="val 9526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581214" y="3716052"/>
            <a:ext cx="161954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Django REST API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353013" y="3815767"/>
            <a:ext cx="51431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829226" y="3163900"/>
            <a:ext cx="2152613" cy="1744266"/>
          </a:xfrm>
          <a:prstGeom prst="roundRect">
            <a:avLst>
              <a:gd name="adj" fmla="val 8737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5972891" y="3392351"/>
            <a:ext cx="186528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Kafka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19577" y="3788420"/>
            <a:ext cx="1771910" cy="92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0"/>
              </a:lnSpc>
              <a:buNone/>
            </a:pPr>
            <a:r>
              <a:rPr lang="en-US" sz="1800" dirty="0">
                <a:solidFill>
                  <a:srgbClr val="8FD3D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brokers · keyed by fleet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43738" y="3815767"/>
            <a:ext cx="51431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419951" y="3236082"/>
            <a:ext cx="2000250" cy="1599902"/>
          </a:xfrm>
          <a:prstGeom prst="roundRect">
            <a:avLst>
              <a:gd name="adj" fmla="val 9526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10302" y="3716052"/>
            <a:ext cx="161954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Kafka Connect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382101" y="3815767"/>
            <a:ext cx="51431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0858314" y="2597237"/>
            <a:ext cx="2152613" cy="1362708"/>
          </a:xfrm>
          <a:prstGeom prst="roundRect">
            <a:avLst>
              <a:gd name="adj" fmla="val 11184"/>
            </a:avLst>
          </a:prstGeom>
          <a:solidFill>
            <a:srgbClr val="FFFFFF"/>
          </a:solidFill>
          <a:ln w="23813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65349" y="2792388"/>
            <a:ext cx="19385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HDFS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015365" y="3169481"/>
            <a:ext cx="1838511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historical store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858314" y="4112307"/>
            <a:ext cx="2152613" cy="1362708"/>
          </a:xfrm>
          <a:prstGeom prst="roundRect">
            <a:avLst>
              <a:gd name="adj" fmla="val 11184"/>
            </a:avLst>
          </a:prstGeom>
          <a:solidFill>
            <a:srgbClr val="FFFFFF"/>
          </a:solidFill>
          <a:ln w="23813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65349" y="4307458"/>
            <a:ext cx="19385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MySQL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015365" y="4684551"/>
            <a:ext cx="1838511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 store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72827" y="3815767"/>
            <a:ext cx="51431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3449040" y="2280419"/>
            <a:ext cx="2000250" cy="1980344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23813">
            <a:solidFill>
              <a:srgbClr val="1A8C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606090" y="2475570"/>
            <a:ext cx="168614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Spark MLlib model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3606090" y="3172644"/>
            <a:ext cx="1686148" cy="931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trained log-linear regression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349027" y="4413126"/>
            <a:ext cx="2200275" cy="281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5852"/>
              </a:lnSpc>
              <a:buNone/>
            </a:pPr>
            <a:r>
              <a:rPr lang="en-US" sz="2400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3449040" y="4809195"/>
            <a:ext cx="2000250" cy="982638"/>
          </a:xfrm>
          <a:prstGeom prst="roundRect">
            <a:avLst>
              <a:gd name="adj" fmla="val 15509"/>
            </a:avLst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13582278" y="4980533"/>
            <a:ext cx="173377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Spark batch scoring job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5411190" y="3815767"/>
            <a:ext cx="51431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15887402" y="3236082"/>
            <a:ext cx="2000250" cy="1599902"/>
          </a:xfrm>
          <a:prstGeom prst="roundRect">
            <a:avLst>
              <a:gd name="adj" fmla="val 9526"/>
            </a:avLst>
          </a:prstGeom>
          <a:solidFill>
            <a:srgbClr val="1A8C8F"/>
          </a:solidFill>
          <a:ln/>
        </p:spPr>
      </p:sp>
      <p:sp>
        <p:nvSpPr>
          <p:cNvPr id="32" name="Text 30"/>
          <p:cNvSpPr/>
          <p:nvPr/>
        </p:nvSpPr>
        <p:spPr>
          <a:xfrm>
            <a:off x="16077754" y="3716052"/>
            <a:ext cx="161954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Django Dashboard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6887580" y="5369533"/>
            <a:ext cx="35719" cy="666750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34" name="Shape 32"/>
          <p:cNvSpPr/>
          <p:nvPr/>
        </p:nvSpPr>
        <p:spPr>
          <a:xfrm>
            <a:off x="5829226" y="6036283"/>
            <a:ext cx="7181701" cy="1468934"/>
          </a:xfrm>
          <a:prstGeom prst="roundRect">
            <a:avLst>
              <a:gd name="adj" fmla="val 10375"/>
            </a:avLst>
          </a:prstGeom>
          <a:solidFill>
            <a:srgbClr val="FFF8E6"/>
          </a:solidFill>
          <a:ln w="23813">
            <a:solidFill>
              <a:srgbClr val="E3A7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7764" y="6610759"/>
            <a:ext cx="3416033" cy="3580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520"/>
              </a:lnSpc>
              <a:buNone/>
            </a:pPr>
            <a:r>
              <a:rPr lang="en-US" sz="21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Custom Kafka consumer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491700" y="6269571"/>
            <a:ext cx="3286410" cy="1040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36"/>
              </a:lnSpc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reads the same stream independently for real-time notable-flight alerts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8803370" y="9013403"/>
            <a:ext cx="8532130" cy="664146"/>
          </a:xfrm>
          <a:prstGeom prst="roundRect">
            <a:avLst>
              <a:gd name="adj" fmla="val 50000"/>
            </a:avLst>
          </a:prstGeom>
          <a:solidFill>
            <a:srgbClr val="FFF8E6"/>
          </a:solidFill>
          <a:ln w="11906">
            <a:solidFill>
              <a:srgbClr val="E3A7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29501" y="9139535"/>
            <a:ext cx="1703896" cy="411882"/>
          </a:xfrm>
          <a:prstGeom prst="roundRect">
            <a:avLst>
              <a:gd name="adj" fmla="val 50000"/>
            </a:avLst>
          </a:prstGeom>
          <a:solidFill>
            <a:srgbClr val="E3A72F"/>
          </a:solidFill>
          <a:ln/>
        </p:spPr>
      </p:sp>
      <p:sp>
        <p:nvSpPr>
          <p:cNvPr id="39" name="Text 37"/>
          <p:cNvSpPr/>
          <p:nvPr/>
        </p:nvSpPr>
        <p:spPr>
          <a:xfrm>
            <a:off x="9081901" y="9196685"/>
            <a:ext cx="1475296" cy="335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B1F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785760" y="9196648"/>
            <a:ext cx="694032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Terminal — docker ps, all 8 containers running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363"/>
            <a:ext cx="5448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7170"/>
            <a:ext cx="544830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Kafka &amp; Streaming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6762750" y="914363"/>
            <a:ext cx="10572750" cy="1623715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3107" y="1154720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6965007" y="115472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3×3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69809" y="1369777"/>
            <a:ext cx="938309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3-broker cluster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8469809" y="1748358"/>
            <a:ext cx="9383092" cy="372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36"/>
              </a:lnSpc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 topic, 3 partitions, replication factor 2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762750" y="2785690"/>
            <a:ext cx="10572750" cy="1623715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03107" y="3026048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965007" y="3026048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469809" y="3074045"/>
            <a:ext cx="938309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Messages keyed by aircraft group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8469809" y="3452626"/>
            <a:ext cx="8785987" cy="70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36"/>
              </a:lnSpc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Same group always lands on the same partition — verified directly by inspecting messages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762750" y="4657018"/>
            <a:ext cx="10572750" cy="1623715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3107" y="4897375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6965007" y="4897375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×2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469809" y="5112432"/>
            <a:ext cx="938309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Custom Python consumer, 2 instances at once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8469809" y="5491014"/>
            <a:ext cx="9383092" cy="372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36"/>
              </a:lnSpc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Named consumer group — demonstrates live partition rebalancing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762750" y="6528346"/>
            <a:ext cx="10572750" cy="1623715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03107" y="6768703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965007" y="6768703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5s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469809" y="6983760"/>
            <a:ext cx="938309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Automatic commit every 5s = at-least-once delivery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8469809" y="7362341"/>
            <a:ext cx="9383092" cy="372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36"/>
              </a:lnSpc>
              <a:buNone/>
            </a:pPr>
            <a:r>
              <a:rPr lang="en-US" sz="1950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message could be reprocessed after a crash, but never silently dropped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2500" y="9013403"/>
            <a:ext cx="8257915" cy="664146"/>
          </a:xfrm>
          <a:prstGeom prst="roundRect">
            <a:avLst>
              <a:gd name="adj" fmla="val 50000"/>
            </a:avLst>
          </a:prstGeom>
          <a:solidFill>
            <a:srgbClr val="FFF8E6"/>
          </a:solidFill>
          <a:ln w="11906">
            <a:solidFill>
              <a:srgbClr val="E3A7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632" y="9139535"/>
            <a:ext cx="1703896" cy="411882"/>
          </a:xfrm>
          <a:prstGeom prst="roundRect">
            <a:avLst>
              <a:gd name="adj" fmla="val 50000"/>
            </a:avLst>
          </a:prstGeom>
          <a:solidFill>
            <a:srgbClr val="E3A72F"/>
          </a:solidFill>
          <a:ln/>
        </p:spPr>
      </p:sp>
      <p:sp>
        <p:nvSpPr>
          <p:cNvPr id="26" name="Text 24"/>
          <p:cNvSpPr/>
          <p:nvPr/>
        </p:nvSpPr>
        <p:spPr>
          <a:xfrm>
            <a:off x="1231032" y="9196685"/>
            <a:ext cx="1475296" cy="335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B1F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934891" y="9196648"/>
            <a:ext cx="663868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terminals — flight_notifier.py, stop one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363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7170"/>
            <a:ext cx="1802130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Results: Model Validation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512033"/>
            <a:ext cx="10572750" cy="6667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906" y="2714439"/>
            <a:ext cx="10167938" cy="6262688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6707" b="-16707"/>
          <a:stretch/>
        </p:blipFill>
        <p:spPr>
          <a:xfrm>
            <a:off x="1154906" y="2714439"/>
            <a:ext cx="10167938" cy="62626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192000" y="2894893"/>
            <a:ext cx="133201" cy="133201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8" name="Text 5"/>
          <p:cNvSpPr/>
          <p:nvPr/>
        </p:nvSpPr>
        <p:spPr>
          <a:xfrm>
            <a:off x="12515701" y="2771180"/>
            <a:ext cx="4964393" cy="1117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025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real historical flight's actual distance / weight / tailwind run through the trained model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2192000" y="4164769"/>
            <a:ext cx="133201" cy="133201"/>
          </a:xfrm>
          <a:prstGeom prst="rect">
            <a:avLst/>
          </a:prstGeom>
          <a:solidFill>
            <a:srgbClr val="1A8C8F"/>
          </a:solidFill>
          <a:ln/>
        </p:spPr>
      </p:sp>
      <p:sp>
        <p:nvSpPr>
          <p:cNvPr id="10" name="Text 7"/>
          <p:cNvSpPr/>
          <p:nvPr/>
        </p:nvSpPr>
        <p:spPr>
          <a:xfrm>
            <a:off x="12515701" y="4041056"/>
            <a:ext cx="4964393" cy="75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025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Predicted fuel burn compared against the actual known fuel burn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12192000" y="5141640"/>
            <a:ext cx="5143500" cy="1800076"/>
          </a:xfrm>
          <a:prstGeom prst="roundRect">
            <a:avLst>
              <a:gd name="adj" fmla="val 9525"/>
            </a:avLst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12534863" y="5446365"/>
            <a:ext cx="490355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D3D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Narrow-body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534863" y="5803553"/>
            <a:ext cx="2200908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3A7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519 </a:t>
            </a:r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kg RMSE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40570" y="5803553"/>
            <a:ext cx="2028267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350 </a:t>
            </a:r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kg MAE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2192000" y="7322716"/>
            <a:ext cx="5143500" cy="1847701"/>
          </a:xfrm>
          <a:prstGeom prst="roundRect">
            <a:avLst>
              <a:gd name="adj" fmla="val 9279"/>
            </a:avLst>
          </a:prstGeom>
          <a:solidFill>
            <a:srgbClr val="FFFFFF"/>
          </a:solidFill>
          <a:ln w="23813">
            <a:solidFill>
              <a:srgbClr val="1A8C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558675" y="7651254"/>
            <a:ext cx="48511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Wide-body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2558675" y="8008441"/>
            <a:ext cx="2395686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3A7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1,014 </a:t>
            </a:r>
            <a:pPr algn="l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kg RMSE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259162" y="8008441"/>
            <a:ext cx="1785863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791 </a:t>
            </a:r>
            <a:pPr algn="l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kg MAE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363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A8C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7170"/>
            <a:ext cx="1802130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Dashboard &amp; Insights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645234"/>
            <a:ext cx="16383000" cy="1523628"/>
          </a:xfrm>
          <a:prstGeom prst="roundRect">
            <a:avLst>
              <a:gd name="adj" fmla="val 11253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295363" y="2968935"/>
            <a:ext cx="2571899" cy="914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0" b="1" spc="-207" kern="0" dirty="0">
                <a:solidFill>
                  <a:srgbClr val="E3A7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3,587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3842928" y="3445185"/>
            <a:ext cx="3721559" cy="372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25" dirty="0">
                <a:solidFill>
                  <a:srgbClr val="DCE4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flights scored in one batch run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52500" y="4473587"/>
            <a:ext cx="8039137" cy="1790402"/>
          </a:xfrm>
          <a:prstGeom prst="roundRect">
            <a:avLst>
              <a:gd name="adj" fmla="val 9576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0156" y="4752082"/>
            <a:ext cx="818820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Wide-body distance range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0156" y="5097363"/>
            <a:ext cx="8188207" cy="533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35"/>
              </a:lnSpc>
              <a:buNone/>
            </a:pPr>
            <a:r>
              <a:rPr lang="en-US" sz="39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4,096 </a:t>
            </a:r>
            <a:pPr algn="l" indent="0" marL="0">
              <a:lnSpc>
                <a:spcPct val="90435"/>
              </a:lnSpc>
              <a:buNone/>
            </a:pPr>
            <a:r>
              <a:rPr lang="en-US" sz="19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NM spread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250156" y="5687839"/>
            <a:ext cx="818820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146 – 4,242 NM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96363" y="4473587"/>
            <a:ext cx="8039137" cy="1790402"/>
          </a:xfrm>
          <a:prstGeom prst="roundRect">
            <a:avLst>
              <a:gd name="adj" fmla="val 9576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4019" y="4752082"/>
            <a:ext cx="818820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8C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Narrow-body distance range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94019" y="5097363"/>
            <a:ext cx="8188207" cy="533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35"/>
              </a:lnSpc>
              <a:buNone/>
            </a:pPr>
            <a:r>
              <a:rPr lang="en-US" sz="39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2,516 </a:t>
            </a:r>
            <a:pPr algn="l" indent="0" marL="0">
              <a:lnSpc>
                <a:spcPct val="90435"/>
              </a:lnSpc>
              <a:buNone/>
            </a:pPr>
            <a:r>
              <a:rPr lang="en-US" sz="195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NM spread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594019" y="5687839"/>
            <a:ext cx="818820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3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47 – 2,563 NM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6568715"/>
            <a:ext cx="16383000" cy="1052215"/>
          </a:xfrm>
          <a:prstGeom prst="roundRect">
            <a:avLst>
              <a:gd name="adj" fmla="val 16294"/>
            </a:avLst>
          </a:prstGeom>
          <a:solidFill>
            <a:srgbClr val="FFFFFF"/>
          </a:solidFill>
          <a:ln w="11906">
            <a:solidFill>
              <a:srgbClr val="D6D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0156" y="6847210"/>
            <a:ext cx="1936496" cy="5333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435"/>
              </a:lnSpc>
              <a:buNone/>
            </a:pPr>
            <a:r>
              <a:rPr lang="en-US" sz="3900" b="1" dirty="0">
                <a:solidFill>
                  <a:srgbClr val="0B1F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~3.3 : 1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3277195" y="6934088"/>
            <a:ext cx="1196338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75" dirty="0">
                <a:solidFill>
                  <a:srgbClr val="2B3A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Freighter variant notably more headwind-skewed (849 headwind vs. 257 tailwind) than either other group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52500" y="9013403"/>
            <a:ext cx="9080748" cy="664146"/>
          </a:xfrm>
          <a:prstGeom prst="roundRect">
            <a:avLst>
              <a:gd name="adj" fmla="val 50000"/>
            </a:avLst>
          </a:prstGeom>
          <a:solidFill>
            <a:srgbClr val="FFF8E6"/>
          </a:solidFill>
          <a:ln w="11906">
            <a:solidFill>
              <a:srgbClr val="E3A7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632" y="9139535"/>
            <a:ext cx="1703896" cy="411882"/>
          </a:xfrm>
          <a:prstGeom prst="roundRect">
            <a:avLst>
              <a:gd name="adj" fmla="val 50000"/>
            </a:avLst>
          </a:prstGeom>
          <a:solidFill>
            <a:srgbClr val="E3A72F"/>
          </a:solidFill>
          <a:ln/>
        </p:spPr>
      </p:sp>
      <p:sp>
        <p:nvSpPr>
          <p:cNvPr id="20" name="Text 18"/>
          <p:cNvSpPr/>
          <p:nvPr/>
        </p:nvSpPr>
        <p:spPr>
          <a:xfrm>
            <a:off x="1231032" y="9196685"/>
            <a:ext cx="1475296" cy="335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B1F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34891" y="9196648"/>
            <a:ext cx="754380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Browser — localhost:8000/api/dashboard/, four tabs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174193"/>
            <a:ext cx="822483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2667000"/>
            <a:ext cx="8224838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4500" b="1" spc="-45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Limitations &amp; Conclusion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752701"/>
            <a:ext cx="418951" cy="418951"/>
          </a:xfrm>
          <a:prstGeom prst="roundRect">
            <a:avLst>
              <a:gd name="adj" fmla="val 22735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3752701"/>
            <a:ext cx="495151" cy="457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1800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71427" y="3752701"/>
            <a:ext cx="7054159" cy="1117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025" dirty="0">
                <a:solidFill>
                  <a:srgbClr val="DCE4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Wide-body group had only 47 real flights for one part of the analysis — thinner sample, wider KDE bandwidth used to compensate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143000" y="5117827"/>
            <a:ext cx="418951" cy="418951"/>
          </a:xfrm>
          <a:prstGeom prst="roundRect">
            <a:avLst>
              <a:gd name="adj" fmla="val 22735"/>
            </a:avLst>
          </a:prstGeom>
          <a:solidFill>
            <a:srgbClr val="16325C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5117827"/>
            <a:ext cx="495151" cy="457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1800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71427" y="5117827"/>
            <a:ext cx="7054159" cy="1117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025" dirty="0">
                <a:solidFill>
                  <a:srgbClr val="DCE4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Tailwind signal is weak and inconsistent — only takeoff/descent-phase wind was available, not cruise-level headwind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143000" y="6482953"/>
            <a:ext cx="418951" cy="418951"/>
          </a:xfrm>
          <a:prstGeom prst="roundRect">
            <a:avLst>
              <a:gd name="adj" fmla="val 22735"/>
            </a:avLst>
          </a:prstGeom>
          <a:solidFill>
            <a:srgbClr val="16325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6482953"/>
            <a:ext cx="495151" cy="457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1800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71427" y="6482953"/>
            <a:ext cx="7054159" cy="75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025" dirty="0">
                <a:solidFill>
                  <a:srgbClr val="DCE4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Single-node HDFS, no replication — real reliability tradeoff under concurrent load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143000" y="7488287"/>
            <a:ext cx="418951" cy="418951"/>
          </a:xfrm>
          <a:prstGeom prst="roundRect">
            <a:avLst>
              <a:gd name="adj" fmla="val 22735"/>
            </a:avLst>
          </a:prstGeom>
          <a:solidFill>
            <a:srgbClr val="16325C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7488287"/>
            <a:ext cx="495151" cy="457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7520"/>
              </a:lnSpc>
              <a:buNone/>
            </a:pPr>
            <a:r>
              <a:rPr lang="en-US" sz="1800" dirty="0">
                <a:solidFill>
                  <a:srgbClr val="E3A7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71427" y="7488287"/>
            <a:ext cx="7054159" cy="75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025" dirty="0">
                <a:solidFill>
                  <a:srgbClr val="DCE4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Batch scoring, not streaming — explicitly permitted by the assignment brief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667875" y="2768203"/>
            <a:ext cx="47625" cy="4845658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8863" y="2768203"/>
            <a:ext cx="7585751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5082"/>
              </a:lnSpc>
              <a:buNone/>
            </a:pPr>
            <a:r>
              <a:rPr lang="en-US" sz="10500" b="1" dirty="0">
                <a:solidFill>
                  <a:srgbClr val="E3A7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“</a:t>
            </a:r>
            <a:endParaRPr lang="en-US" sz="10500" dirty="0"/>
          </a:p>
        </p:txBody>
      </p:sp>
      <p:sp>
        <p:nvSpPr>
          <p:cNvPr id="18" name="Text 16"/>
          <p:cNvSpPr/>
          <p:nvPr/>
        </p:nvSpPr>
        <p:spPr>
          <a:xfrm>
            <a:off x="10248863" y="3834743"/>
            <a:ext cx="7103021" cy="3817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95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complete, working pipeline — from a fitted probability density, through real-time streaming, to a validated, deployed machine learning model — built without ever needing the confidential source data more than once.</a:t>
            </a:r>
            <a:endParaRPr lang="en-US" sz="3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2026-09-18T15:20:39Z</dcterms:created>
  <dcterms:modified xsi:type="dcterms:W3CDTF">2026-09-18T15:20:39Z</dcterms:modified>
</cp:coreProperties>
</file>